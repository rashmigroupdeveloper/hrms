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4EAA-0224-048C-31BE-1952139CA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804D8-9137-0DF7-72F3-166D460C1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25880-5225-9A6A-FC13-33F154C9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D890F-9A1D-4FB7-0E3C-A2F3C571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ECA85-5AF4-76AA-BC4F-DA9901F84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75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0379-B6BC-F103-A93F-96833709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83B54-DA3C-0462-70A0-AECA0AC3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62008-A6F0-B338-4E86-83B0E5F6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8B72F-470A-002C-78D8-60932360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0BCA9-0B7A-355A-40F9-CD4654C7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38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8109-6A6D-73F5-CCD6-180D66057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DBA22-F6B4-00A5-0B71-3922AF473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5B260-B487-75FD-3FA3-D8BC4A6B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0FDAA-2E33-BBD6-B47C-5DB12886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ABC82-0A12-21A6-4832-EC9AA41C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20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420A-9675-F1E0-5022-E03B8669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EE58C-7BF4-AF01-07C3-E4CBBD3F6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4A371-B986-7ACE-FD02-869BF2398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0D80A-9538-5E75-AA66-F6DDB2DCE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6DAEC-64AC-A457-6354-52890CA05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BF0AC-BA4E-2920-5B99-250145F4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23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02A8-0D96-E62B-D422-0387BCD95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C31C9-A74D-5351-8254-2254CF455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E526E-8B43-E74F-DB59-064B88CDB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742EE-2DDF-FBB8-6272-E9CE9A6DD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E9756-0EB0-752C-1345-77B2EFA56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895E2F-E949-2B2A-FDB7-A0C9A69C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E6157-89B5-8CC6-65D2-65E75F179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7110C-566B-22DA-C644-8DA928E6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43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CABBD-F85A-315D-E04D-5AF9DD31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0DFE4-CDB6-51C2-7911-E43AEC81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2F7BC-A12A-1EC5-95D6-D9EEB238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56836-A1F0-E50A-E5BE-3808918D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11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954C4-281C-336A-B603-852E6A7E8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D2405-5A15-77DC-7701-083716C34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72222-8AEC-321E-32EE-C4B0DB3D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67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5AE1-69C3-047D-6E6A-7035E7BD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041BA-BF0A-C5A4-9ADF-1F9074809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B48B6-245F-2F0C-6871-EF1B09802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0F3B1-27EC-3A9A-706C-7A770B18A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7C716-41B3-9CFA-4465-519ABC155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9CA12-F5E0-3BF4-2E42-17488F6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11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8DEF-45A1-9109-4A84-FB02B790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F8DD6E-C671-295B-2FE8-81390A60E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55B86-240B-4782-8C13-29ACC665E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1C22E-4EF8-883C-DD9C-8373EAD5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98639-9086-2805-24E9-5D295B915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DD2FB-1ADE-FBC6-011B-AE411380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1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7E85-D5DD-0ED3-15BD-AA27DC71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0D6F4-6959-449D-04D8-AB6078DCA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4847D-0B5C-A240-9F73-80CB5871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77605-C06B-236F-C395-24730014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3D517-0E17-CB93-78A4-ACAA301C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87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5DB2E-C1A3-65DB-6E8F-1E0C82378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30776-AFCE-233A-C48A-95456D63F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0C1E4-79BC-0F13-8D7C-0F8D37E1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4FC18-3260-6996-DF68-FF89560E9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3008F-F8BF-7E2C-F9FA-0B450483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32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27122-0A04-90BE-4857-987313493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FBD7A-C1E0-9B28-40FD-68946DDDA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1DE5B-5778-B1A7-9E7B-42544AD0E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61AC5-49BB-494F-BE0E-DDDC5494C317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27027-3A6A-B2FB-96DE-F6D3D1859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FB80E-E238-8513-636B-0110AF6EB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FEC3F-2A64-4000-A8A4-591AE91F26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30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05ADE-5754-6D1F-5A48-0BD3F66C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CE7B604-A741-9FEA-CB8F-828E1774536C}"/>
              </a:ext>
            </a:extLst>
          </p:cNvPr>
          <p:cNvSpPr/>
          <p:nvPr/>
        </p:nvSpPr>
        <p:spPr>
          <a:xfrm>
            <a:off x="10670465" y="0"/>
            <a:ext cx="1521535" cy="786218"/>
          </a:xfrm>
          <a:custGeom>
            <a:avLst/>
            <a:gdLst/>
            <a:ahLst/>
            <a:cxnLst/>
            <a:rect l="l" t="t" r="r" b="b"/>
            <a:pathLst>
              <a:path w="2282303" h="1179327">
                <a:moveTo>
                  <a:pt x="0" y="0"/>
                </a:moveTo>
                <a:lnTo>
                  <a:pt x="2282303" y="0"/>
                </a:lnTo>
                <a:lnTo>
                  <a:pt x="2282303" y="1179327"/>
                </a:lnTo>
                <a:lnTo>
                  <a:pt x="0" y="1179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626" b="-43899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958AC0E-4E26-E574-395D-58A45560535B}"/>
              </a:ext>
            </a:extLst>
          </p:cNvPr>
          <p:cNvSpPr txBox="1"/>
          <p:nvPr/>
        </p:nvSpPr>
        <p:spPr>
          <a:xfrm>
            <a:off x="150446" y="-170456"/>
            <a:ext cx="10491161" cy="95970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3920"/>
              </a:lnSpc>
            </a:pPr>
            <a:endParaRPr lang="en-US" sz="2800" b="1">
              <a:solidFill>
                <a:srgbClr val="27272E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11C014-7935-C61A-2990-1AC872879A71}"/>
              </a:ext>
            </a:extLst>
          </p:cNvPr>
          <p:cNvGraphicFramePr>
            <a:graphicFrameLocks noGrp="1"/>
          </p:cNvGraphicFramePr>
          <p:nvPr/>
        </p:nvGraphicFramePr>
        <p:xfrm>
          <a:off x="324556" y="860778"/>
          <a:ext cx="10333925" cy="58621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76275">
                  <a:extLst>
                    <a:ext uri="{9D8B030D-6E8A-4147-A177-3AD203B41FA5}">
                      <a16:colId xmlns:a16="http://schemas.microsoft.com/office/drawing/2014/main" val="1877681459"/>
                    </a:ext>
                  </a:extLst>
                </a:gridCol>
                <a:gridCol w="1476275">
                  <a:extLst>
                    <a:ext uri="{9D8B030D-6E8A-4147-A177-3AD203B41FA5}">
                      <a16:colId xmlns:a16="http://schemas.microsoft.com/office/drawing/2014/main" val="1285829700"/>
                    </a:ext>
                  </a:extLst>
                </a:gridCol>
                <a:gridCol w="1476275">
                  <a:extLst>
                    <a:ext uri="{9D8B030D-6E8A-4147-A177-3AD203B41FA5}">
                      <a16:colId xmlns:a16="http://schemas.microsoft.com/office/drawing/2014/main" val="2113707070"/>
                    </a:ext>
                  </a:extLst>
                </a:gridCol>
                <a:gridCol w="1476275">
                  <a:extLst>
                    <a:ext uri="{9D8B030D-6E8A-4147-A177-3AD203B41FA5}">
                      <a16:colId xmlns:a16="http://schemas.microsoft.com/office/drawing/2014/main" val="1566227175"/>
                    </a:ext>
                  </a:extLst>
                </a:gridCol>
                <a:gridCol w="1476275">
                  <a:extLst>
                    <a:ext uri="{9D8B030D-6E8A-4147-A177-3AD203B41FA5}">
                      <a16:colId xmlns:a16="http://schemas.microsoft.com/office/drawing/2014/main" val="950420689"/>
                    </a:ext>
                  </a:extLst>
                </a:gridCol>
                <a:gridCol w="1476275">
                  <a:extLst>
                    <a:ext uri="{9D8B030D-6E8A-4147-A177-3AD203B41FA5}">
                      <a16:colId xmlns:a16="http://schemas.microsoft.com/office/drawing/2014/main" val="2841939761"/>
                    </a:ext>
                  </a:extLst>
                </a:gridCol>
                <a:gridCol w="1476275">
                  <a:extLst>
                    <a:ext uri="{9D8B030D-6E8A-4147-A177-3AD203B41FA5}">
                      <a16:colId xmlns:a16="http://schemas.microsoft.com/office/drawing/2014/main" val="4094774897"/>
                    </a:ext>
                  </a:extLst>
                </a:gridCol>
              </a:tblGrid>
              <a:tr h="30480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600" b="1">
                          <a:effectLst/>
                          <a:latin typeface="Calibri"/>
                        </a:rPr>
                        <a:t>Manpower Demographics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379029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libri"/>
                        </a:rPr>
                        <a:t>Total Manpower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libri"/>
                        </a:rPr>
                        <a:t>White Collar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libri"/>
                        </a:rPr>
                        <a:t>Trainee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libri"/>
                        </a:rPr>
                        <a:t>Blue Collar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libri"/>
                        </a:rPr>
                        <a:t>Contract Workers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>
                          <a:effectLst/>
                          <a:latin typeface="Calibri"/>
                        </a:rPr>
                        <a:t>Consultants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919680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Manpower Count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107680"/>
                  </a:ext>
                </a:extLst>
              </a:tr>
              <a:tr h="294935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Average Age(Years)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162843"/>
                  </a:ext>
                </a:extLst>
              </a:tr>
              <a:tr h="212352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Tenure(Years)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624126"/>
                  </a:ext>
                </a:extLst>
              </a:tr>
              <a:tr h="294935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Leadership Percentage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553241"/>
                  </a:ext>
                </a:extLst>
              </a:tr>
              <a:tr h="424705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Contract Manpower Dependency Ratio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124190"/>
                  </a:ext>
                </a:extLst>
              </a:tr>
              <a:tr h="24003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300" b="1">
                          <a:effectLst/>
                          <a:latin typeface="Calibri"/>
                        </a:rPr>
                        <a:t>Average CTC per Employee at different levels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514752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White Collar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 b="1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60008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Blue Collar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478626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Trainees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788031"/>
                  </a:ext>
                </a:extLst>
              </a:tr>
              <a:tr h="24003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300" b="1">
                          <a:effectLst/>
                          <a:latin typeface="Calibri"/>
                        </a:rPr>
                        <a:t>Manpower Productivity &amp; Cost Metrics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135282"/>
                  </a:ext>
                </a:extLst>
              </a:tr>
              <a:tr h="294935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Labour Productivity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287186"/>
                  </a:ext>
                </a:extLst>
              </a:tr>
              <a:tr h="294935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Output per Man-Hour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928828"/>
                  </a:ext>
                </a:extLst>
              </a:tr>
              <a:tr h="294935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Cost per Man-Hour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838733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Cost Per unit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180526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Overtime (in Hrs.)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631425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Cost of Overtime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002020"/>
                  </a:ext>
                </a:extLst>
              </a:tr>
              <a:tr h="24003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300" b="1">
                          <a:effectLst/>
                          <a:latin typeface="Calibri"/>
                        </a:rPr>
                        <a:t>Attendance &amp; Engagement Metrics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000913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Absenteeism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50521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Attrition Rate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18138"/>
                  </a:ext>
                </a:extLst>
              </a:tr>
              <a:tr h="212353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No. of Leavers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393256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effectLst/>
                          <a:latin typeface="Calibri"/>
                        </a:rPr>
                        <a:t>Employee Burnout Index</a:t>
                      </a: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6350" marR="6350" marT="635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52161"/>
                  </a:ext>
                </a:extLst>
              </a:tr>
            </a:tbl>
          </a:graphicData>
        </a:graphic>
      </p:graphicFrame>
      <p:grpSp>
        <p:nvGrpSpPr>
          <p:cNvPr id="12" name="Group 4">
            <a:extLst>
              <a:ext uri="{FF2B5EF4-FFF2-40B4-BE49-F238E27FC236}">
                <a16:creationId xmlns:a16="http://schemas.microsoft.com/office/drawing/2014/main" id="{3D6CAF9B-E3DA-2AD8-BD2C-050F0119A258}"/>
              </a:ext>
            </a:extLst>
          </p:cNvPr>
          <p:cNvGrpSpPr/>
          <p:nvPr/>
        </p:nvGrpSpPr>
        <p:grpSpPr>
          <a:xfrm>
            <a:off x="127000" y="-170456"/>
            <a:ext cx="10491161" cy="959706"/>
            <a:chOff x="0" y="-76200"/>
            <a:chExt cx="4144656" cy="37914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7FFD1FA-A7A9-229F-41A7-EBBEB43E4500}"/>
                </a:ext>
              </a:extLst>
            </p:cNvPr>
            <p:cNvSpPr/>
            <p:nvPr/>
          </p:nvSpPr>
          <p:spPr>
            <a:xfrm>
              <a:off x="0" y="0"/>
              <a:ext cx="4144656" cy="302943"/>
            </a:xfrm>
            <a:custGeom>
              <a:avLst/>
              <a:gdLst/>
              <a:ahLst/>
              <a:cxnLst/>
              <a:rect l="l" t="t" r="r" b="b"/>
              <a:pathLst>
                <a:path w="4144656" h="302943">
                  <a:moveTo>
                    <a:pt x="0" y="0"/>
                  </a:moveTo>
                  <a:lnTo>
                    <a:pt x="4144656" y="0"/>
                  </a:lnTo>
                  <a:lnTo>
                    <a:pt x="4144656" y="302943"/>
                  </a:lnTo>
                  <a:lnTo>
                    <a:pt x="0" y="302943"/>
                  </a:lnTo>
                  <a:close/>
                </a:path>
              </a:pathLst>
            </a:custGeom>
            <a:solidFill>
              <a:srgbClr val="F9ECB8"/>
            </a:solidFill>
          </p:spPr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19D01076-7C39-B4FC-88E2-95ACE2713AFD}"/>
                </a:ext>
              </a:extLst>
            </p:cNvPr>
            <p:cNvSpPr txBox="1"/>
            <p:nvPr/>
          </p:nvSpPr>
          <p:spPr>
            <a:xfrm>
              <a:off x="0" y="-76200"/>
              <a:ext cx="4144656" cy="37914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 b="1">
                  <a:solidFill>
                    <a:srgbClr val="27272E"/>
                  </a:solidFill>
                  <a:latin typeface="Canva Sans Bold" panose="020B0803030501040103"/>
                  <a:sym typeface="Canva Sans Bold" panose="020B0803030501040103"/>
                </a:rPr>
                <a:t>HR Dashboard - Format</a:t>
              </a:r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74051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2458-B029-E58F-A616-933C17F46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Attrition among new hires within 3 months, 6 &amp; 12 </a:t>
            </a:r>
            <a:r>
              <a:rPr lang="en-IN"/>
              <a:t>moinths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D65BE-65D0-8A1F-0D97-4D86EF3209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233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Canva Sans Bold</vt:lpstr>
      <vt:lpstr>Office Theme</vt:lpstr>
      <vt:lpstr>PowerPoint Presentation</vt:lpstr>
      <vt:lpstr>Attrition among new hires within 3 months, 6 &amp; 12 moinths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Paila</dc:creator>
  <cp:lastModifiedBy>Chaitanya Paila</cp:lastModifiedBy>
  <cp:revision>2</cp:revision>
  <dcterms:created xsi:type="dcterms:W3CDTF">2025-05-23T12:58:31Z</dcterms:created>
  <dcterms:modified xsi:type="dcterms:W3CDTF">2025-05-23T12:59:41Z</dcterms:modified>
</cp:coreProperties>
</file>